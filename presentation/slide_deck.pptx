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3" r:id="rId6"/>
    <p:sldId id="264" r:id="rId7"/>
    <p:sldId id="265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574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86600" y="1554480"/>
            <a:ext cx="64008" cy="64008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0" y="1554480"/>
            <a:ext cx="64008" cy="64008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86600" y="2377440"/>
            <a:ext cx="64008" cy="64008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89520" y="2377440"/>
            <a:ext cx="64008" cy="64008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280160" cy="43891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20840" y="13898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Portfolio 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029968"/>
            <a:ext cx="1280160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20482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Portfolio 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2688336"/>
            <a:ext cx="1280160" cy="43891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27066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Portfolio 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3346704"/>
            <a:ext cx="1280160" cy="43891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20840" y="3364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Portfolio 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0292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Force Planning Model</a:t>
            </a:r>
          </a:p>
          <a:p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bytes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0292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2578608"/>
            <a:ext cx="5303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1138602E-9685-E315-7FC7-5028A50F8FCB}"/>
              </a:ext>
            </a:extLst>
          </p:cNvPr>
          <p:cNvSpPr/>
          <p:nvPr/>
        </p:nvSpPr>
        <p:spPr>
          <a:xfrm>
            <a:off x="502920" y="257175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UIUC Statistics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22143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Daily Sheet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1358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Portfolios A, B, C, D — one sheet each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731 rows per portfolio (Jan 1 2024 → Dec 31 2025)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Columns: Call Volume, CCT (seconds), Service Level, Abandon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Used as the daily anchor for all forecasting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22143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Interval Sheet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840480" cy="1467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30-minute time slots (48 slots × 92 days = ~4,200 rows)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Coverage: April, May, June 2025 only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Columns: Month, Day, Interval, Call Volume, CCT, Abandoned Rate, Abandoned Calls, Service Level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Used to derive intraday shape profiles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8725"/>
              </p:ext>
            </p:extLst>
          </p:nvPr>
        </p:nvGraphicFramePr>
        <p:xfrm>
          <a:off x="279009" y="3399692"/>
          <a:ext cx="8595360" cy="1359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Portfolio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Daily Rows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Interval Rows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731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4,083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731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4,293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731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4,368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731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4,358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Quality Assessment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8595360" cy="68580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869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Finding Missing Values in the Data </a:t>
            </a:r>
          </a:p>
        </p:txBody>
      </p:sp>
      <p:sp>
        <p:nvSpPr>
          <p:cNvPr id="7" name="Text 5"/>
          <p:cNvSpPr/>
          <p:nvPr/>
        </p:nvSpPr>
        <p:spPr>
          <a:xfrm>
            <a:off x="274320" y="1618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Daily Nulls (% of 731 rows)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01952"/>
          <a:ext cx="4114800" cy="142036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Portfolio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Call Vol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CCT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Svc Level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Abandon Rate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3.4%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2.7%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7.1%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3.4%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2.7%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1.4%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1.4%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4.4%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1618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Interval Nulls (% of rows)</a:t>
            </a:r>
            <a:endParaRPr lang="en-US" sz="11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901952"/>
          <a:ext cx="4114800" cy="142036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Portfolio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Call Vol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CCT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Abd Rate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Svc Level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1.8%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1.7%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6.5%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6.6%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6.5%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274320" y="33101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Null Windows Identified: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3675888"/>
            <a:ext cx="256032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94360" y="3675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</a:rPr>
              <a:t>Portfolio A: </a:t>
            </a:r>
            <a:r>
              <a:rPr lang="en-US" sz="1000" dirty="0">
                <a:solidFill>
                  <a:srgbClr val="374151"/>
                </a:solidFill>
              </a:rPr>
              <a:t>Sep 5–16 2024 (12 days), Jun 12–18 2025 (7 days) : consecutive window suggests system outage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3941064"/>
            <a:ext cx="25603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4360" y="3941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</a:rPr>
              <a:t>Portfolio B: </a:t>
            </a:r>
            <a:r>
              <a:rPr lang="en-US" sz="1000" dirty="0">
                <a:solidFill>
                  <a:srgbClr val="374151"/>
                </a:solidFill>
              </a:rPr>
              <a:t>Sep 2–11 2024 (10 days), Jun 15–22 2025 (8 days) : similar pattern to A, likely same event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4206240"/>
            <a:ext cx="256032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94360" y="42062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</a:rPr>
              <a:t>Portfolio C: </a:t>
            </a:r>
            <a:r>
              <a:rPr lang="en-US" sz="1000" dirty="0">
                <a:solidFill>
                  <a:srgbClr val="374151"/>
                </a:solidFill>
              </a:rPr>
              <a:t>May 5–11 2024 (7 days), Dec 4 2024 : scattered pattern -  shorter outage or batch failure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74320" y="4471416"/>
            <a:ext cx="256032" cy="20116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94360" y="44714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40"/>
                </a:solidFill>
              </a:rPr>
              <a:t>Portfolio D: </a:t>
            </a:r>
            <a:r>
              <a:rPr lang="en-US" sz="1000" dirty="0">
                <a:solidFill>
                  <a:srgbClr val="374151"/>
                </a:solidFill>
              </a:rPr>
              <a:t>Abandon Rate occasionally missing; CCT has 4.4% gap : D has more CCT/ABD dropouts than others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Intraday Shape &amp; Day-of-Week Patterns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Day-of-Week Volume Index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3485057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" y="3393617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25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2928465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" y="2837025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50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11480" y="2371874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" y="228043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75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1480" y="1815283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" y="1723843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100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1480" y="1815283"/>
            <a:ext cx="112079" cy="2226365"/>
          </a:xfrm>
          <a:prstGeom prst="rect">
            <a:avLst/>
          </a:prstGeom>
          <a:solidFill>
            <a:srgbClr val="378ADD">
              <a:alpha val="7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0931" y="1659437"/>
            <a:ext cx="112079" cy="2382211"/>
          </a:xfrm>
          <a:prstGeom prst="rect">
            <a:avLst/>
          </a:prstGeom>
          <a:solidFill>
            <a:srgbClr val="378ADD">
              <a:alpha val="7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30383" y="1770755"/>
            <a:ext cx="112079" cy="2270893"/>
          </a:xfrm>
          <a:prstGeom prst="rect">
            <a:avLst/>
          </a:prstGeom>
          <a:solidFill>
            <a:srgbClr val="378ADD">
              <a:alpha val="7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39834" y="1882074"/>
            <a:ext cx="112079" cy="2159574"/>
          </a:xfrm>
          <a:prstGeom prst="rect">
            <a:avLst/>
          </a:prstGeom>
          <a:solidFill>
            <a:srgbClr val="378ADD">
              <a:alpha val="7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49286" y="2060183"/>
            <a:ext cx="112079" cy="1981465"/>
          </a:xfrm>
          <a:prstGeom prst="rect">
            <a:avLst/>
          </a:prstGeom>
          <a:solidFill>
            <a:srgbClr val="378ADD">
              <a:alpha val="7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58737" y="3084311"/>
            <a:ext cx="112079" cy="957337"/>
          </a:xfrm>
          <a:prstGeom prst="rect">
            <a:avLst/>
          </a:prstGeom>
          <a:solidFill>
            <a:srgbClr val="378ADD">
              <a:alpha val="7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68189" y="3440529"/>
            <a:ext cx="112079" cy="601119"/>
          </a:xfrm>
          <a:prstGeom prst="rect">
            <a:avLst/>
          </a:prstGeom>
          <a:solidFill>
            <a:srgbClr val="378ADD">
              <a:alpha val="7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3559" y="1815283"/>
            <a:ext cx="112079" cy="2226365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33011" y="1592646"/>
            <a:ext cx="112079" cy="2449002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42462" y="1748492"/>
            <a:ext cx="112079" cy="2293156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51914" y="1904337"/>
            <a:ext cx="112079" cy="2137311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1365" y="2037919"/>
            <a:ext cx="112079" cy="2003729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070816" y="2839411"/>
            <a:ext cx="112079" cy="1202237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80268" y="3106575"/>
            <a:ext cx="112079" cy="935073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5639" y="1815283"/>
            <a:ext cx="112079" cy="2226365"/>
          </a:xfrm>
          <a:prstGeom prst="rect">
            <a:avLst/>
          </a:prstGeom>
          <a:solidFill>
            <a:srgbClr val="BA7517">
              <a:alpha val="70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45090" y="1570383"/>
            <a:ext cx="112079" cy="2471265"/>
          </a:xfrm>
          <a:prstGeom prst="rect">
            <a:avLst/>
          </a:prstGeom>
          <a:solidFill>
            <a:srgbClr val="BA7517">
              <a:alpha val="70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654541" y="1726228"/>
            <a:ext cx="112079" cy="2315420"/>
          </a:xfrm>
          <a:prstGeom prst="rect">
            <a:avLst/>
          </a:prstGeom>
          <a:solidFill>
            <a:srgbClr val="BA7517">
              <a:alpha val="70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163993" y="1882074"/>
            <a:ext cx="112079" cy="2159574"/>
          </a:xfrm>
          <a:prstGeom prst="rect">
            <a:avLst/>
          </a:prstGeom>
          <a:solidFill>
            <a:srgbClr val="BA7517">
              <a:alpha val="70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73444" y="2060183"/>
            <a:ext cx="112079" cy="1981465"/>
          </a:xfrm>
          <a:prstGeom prst="rect">
            <a:avLst/>
          </a:prstGeom>
          <a:solidFill>
            <a:srgbClr val="BA7517">
              <a:alpha val="70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82896" y="2906202"/>
            <a:ext cx="112079" cy="1135446"/>
          </a:xfrm>
          <a:prstGeom prst="rect">
            <a:avLst/>
          </a:prstGeom>
          <a:solidFill>
            <a:srgbClr val="BA7517">
              <a:alpha val="70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92347" y="3151102"/>
            <a:ext cx="112079" cy="890546"/>
          </a:xfrm>
          <a:prstGeom prst="rect">
            <a:avLst/>
          </a:prstGeom>
          <a:solidFill>
            <a:srgbClr val="BA7517">
              <a:alpha val="70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7718" y="1815283"/>
            <a:ext cx="112079" cy="2226365"/>
          </a:xfrm>
          <a:prstGeom prst="rect">
            <a:avLst/>
          </a:prstGeom>
          <a:solidFill>
            <a:srgbClr val="993556">
              <a:alpha val="70000"/>
            </a:srgbClr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257169" y="1614910"/>
            <a:ext cx="112079" cy="2426738"/>
          </a:xfrm>
          <a:prstGeom prst="rect">
            <a:avLst/>
          </a:prstGeom>
          <a:solidFill>
            <a:srgbClr val="993556">
              <a:alpha val="70000"/>
            </a:srgbClr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766621" y="1770755"/>
            <a:ext cx="112079" cy="2270893"/>
          </a:xfrm>
          <a:prstGeom prst="rect">
            <a:avLst/>
          </a:prstGeom>
          <a:solidFill>
            <a:srgbClr val="993556">
              <a:alpha val="70000"/>
            </a:srgbClr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76072" y="1904337"/>
            <a:ext cx="112079" cy="2137311"/>
          </a:xfrm>
          <a:prstGeom prst="rect">
            <a:avLst/>
          </a:prstGeom>
          <a:solidFill>
            <a:srgbClr val="993556">
              <a:alpha val="70000"/>
            </a:srgbClr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85524" y="2060183"/>
            <a:ext cx="112079" cy="1981465"/>
          </a:xfrm>
          <a:prstGeom prst="rect">
            <a:avLst/>
          </a:prstGeom>
          <a:solidFill>
            <a:srgbClr val="993556">
              <a:alpha val="70000"/>
            </a:srgbClr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94975" y="2883938"/>
            <a:ext cx="112079" cy="1157710"/>
          </a:xfrm>
          <a:prstGeom prst="rect">
            <a:avLst/>
          </a:prstGeom>
          <a:solidFill>
            <a:srgbClr val="993556">
              <a:alpha val="70000"/>
            </a:srgbClr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804427" y="3151102"/>
            <a:ext cx="112079" cy="890546"/>
          </a:xfrm>
          <a:prstGeom prst="rect">
            <a:avLst/>
          </a:prstGeom>
          <a:solidFill>
            <a:srgbClr val="993556">
              <a:alpha val="70000"/>
            </a:srgbClr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" y="4087368"/>
            <a:ext cx="5094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920931" y="4087368"/>
            <a:ext cx="5094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Tue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430383" y="4087368"/>
            <a:ext cx="5094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Wed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39834" y="4087368"/>
            <a:ext cx="5094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Thu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449286" y="4087368"/>
            <a:ext cx="5094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Fri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958737" y="4087368"/>
            <a:ext cx="5094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Sat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468189" y="4087368"/>
            <a:ext cx="5094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Sun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958737" y="1481328"/>
            <a:ext cx="0" cy="2560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004457" y="1527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</a:rPr>
              <a:t>Weekend cliff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01552" y="448393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Portfolio A has the sharpest weekday cliff :  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Saturdays drop to 27% of Monday volume.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480560" y="850392"/>
            <a:ext cx="4389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61772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CCT Across the Day (6am–10pm)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17720" y="1188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Afternoon calls take markedly longer than morning calls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1508760"/>
            <a:ext cx="4114800" cy="658368"/>
          </a:xfrm>
          <a:prstGeom prst="rect">
            <a:avLst/>
          </a:prstGeom>
          <a:solidFill>
            <a:srgbClr val="378ADD">
              <a:alpha val="7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617720" y="1508760"/>
            <a:ext cx="201168" cy="6583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73752" y="15453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Portfolio A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73752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6–9am:  </a:t>
            </a:r>
            <a:r>
              <a:rPr lang="en-US" sz="1000" b="1" dirty="0">
                <a:solidFill>
                  <a:srgbClr val="1A2340"/>
                </a:solidFill>
              </a:rPr>
              <a:t>297s</a:t>
            </a:r>
            <a:r>
              <a:rPr lang="en-US" sz="1000" dirty="0">
                <a:solidFill>
                  <a:srgbClr val="64748B"/>
                </a:solidFill>
              </a:rPr>
              <a:t>   2–5pm:  </a:t>
            </a:r>
            <a:r>
              <a:rPr lang="en-US" sz="1000" b="1" dirty="0">
                <a:solidFill>
                  <a:srgbClr val="1A2340"/>
                </a:solidFill>
              </a:rPr>
              <a:t>319s</a:t>
            </a:r>
            <a:r>
              <a:rPr lang="en-US" sz="1000" b="1" dirty="0">
                <a:solidFill>
                  <a:srgbClr val="DC2626"/>
                </a:solidFill>
              </a:rPr>
              <a:t>   Δ +22s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17720" y="2258568"/>
            <a:ext cx="4114800" cy="658368"/>
          </a:xfrm>
          <a:prstGeom prst="rect">
            <a:avLst/>
          </a:prstGeom>
          <a:solidFill>
            <a:srgbClr val="1D9E75">
              <a:alpha val="7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617720" y="2258568"/>
            <a:ext cx="201168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73752" y="22951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</a:rPr>
              <a:t>Portfolio B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73752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6–9am:  </a:t>
            </a:r>
            <a:r>
              <a:rPr lang="en-US" sz="1000" b="1" dirty="0">
                <a:solidFill>
                  <a:srgbClr val="1A2340"/>
                </a:solidFill>
              </a:rPr>
              <a:t>292s</a:t>
            </a:r>
            <a:r>
              <a:rPr lang="en-US" sz="1000" dirty="0">
                <a:solidFill>
                  <a:srgbClr val="64748B"/>
                </a:solidFill>
              </a:rPr>
              <a:t>   2–5pm:  </a:t>
            </a:r>
            <a:r>
              <a:rPr lang="en-US" sz="1000" b="1" dirty="0">
                <a:solidFill>
                  <a:srgbClr val="1A2340"/>
                </a:solidFill>
              </a:rPr>
              <a:t>334s</a:t>
            </a:r>
            <a:r>
              <a:rPr lang="en-US" sz="1000" b="1" dirty="0">
                <a:solidFill>
                  <a:srgbClr val="DC2626"/>
                </a:solidFill>
              </a:rPr>
              <a:t>   Δ +43s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617720" y="3008376"/>
            <a:ext cx="4114800" cy="658368"/>
          </a:xfrm>
          <a:prstGeom prst="rect">
            <a:avLst/>
          </a:prstGeom>
          <a:solidFill>
            <a:srgbClr val="BA7517">
              <a:alpha val="7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617720" y="3008376"/>
            <a:ext cx="201168" cy="6583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73752" y="3044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7517"/>
                </a:solidFill>
              </a:rPr>
              <a:t>Portfolio C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873752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6–9am:  </a:t>
            </a:r>
            <a:r>
              <a:rPr lang="en-US" sz="1000" b="1" dirty="0">
                <a:solidFill>
                  <a:srgbClr val="1A2340"/>
                </a:solidFill>
              </a:rPr>
              <a:t>277s</a:t>
            </a:r>
            <a:r>
              <a:rPr lang="en-US" sz="1000" dirty="0">
                <a:solidFill>
                  <a:srgbClr val="64748B"/>
                </a:solidFill>
              </a:rPr>
              <a:t>   2–5pm:  </a:t>
            </a:r>
            <a:r>
              <a:rPr lang="en-US" sz="1000" b="1" dirty="0">
                <a:solidFill>
                  <a:srgbClr val="1A2340"/>
                </a:solidFill>
              </a:rPr>
              <a:t>343s</a:t>
            </a:r>
            <a:r>
              <a:rPr lang="en-US" sz="1000" b="1" dirty="0">
                <a:solidFill>
                  <a:srgbClr val="DC2626"/>
                </a:solidFill>
              </a:rPr>
              <a:t>   Δ +66s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17720" y="3758184"/>
            <a:ext cx="4114800" cy="658368"/>
          </a:xfrm>
          <a:prstGeom prst="rect">
            <a:avLst/>
          </a:prstGeom>
          <a:solidFill>
            <a:srgbClr val="993556">
              <a:alpha val="7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17720" y="3758184"/>
            <a:ext cx="201168" cy="65836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873752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3556"/>
                </a:solidFill>
              </a:rPr>
              <a:t>Portfolio 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873752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6–9am:  </a:t>
            </a:r>
            <a:r>
              <a:rPr lang="en-US" sz="1000" b="1" dirty="0">
                <a:solidFill>
                  <a:srgbClr val="1A2340"/>
                </a:solidFill>
              </a:rPr>
              <a:t>272s</a:t>
            </a:r>
            <a:r>
              <a:rPr lang="en-US" sz="1000" dirty="0">
                <a:solidFill>
                  <a:srgbClr val="64748B"/>
                </a:solidFill>
              </a:rPr>
              <a:t>   2–5pm:  </a:t>
            </a:r>
            <a:r>
              <a:rPr lang="en-US" sz="1000" b="1" dirty="0">
                <a:solidFill>
                  <a:srgbClr val="1A2340"/>
                </a:solidFill>
              </a:rPr>
              <a:t>319s</a:t>
            </a:r>
            <a:r>
              <a:rPr lang="en-US" sz="1000" b="1" dirty="0">
                <a:solidFill>
                  <a:srgbClr val="DC2626"/>
                </a:solidFill>
              </a:rPr>
              <a:t>   Δ +47s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617720" y="4507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CCT rises through the day as complex or escalated cases accumulate. 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This pattern is consistent across all 4 portfolios.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Forecasting Rationale : Why Statistical Models Win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50392"/>
            <a:ext cx="1828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9235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97–99 %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 CV fraction variance explained by (DOW × time slot)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41832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9052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Implication: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1106424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Trimmed mean - optimal estimator. GBM would overfit the remaining 1–3% noise.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9164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18288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764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84–86 %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" y="2093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clean training days per portfolio after corrupt day removal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78308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746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Implication: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94767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Small data : simple model wins. Bias-variance tradeoff favors low-complexity estimators.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3288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532888"/>
            <a:ext cx="182880" cy="7498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A7517"/>
                </a:solidFill>
              </a:rPr>
              <a:t>50–69 %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0352" y="2935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 interval slots have zero abandon rate (zero-inflated)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624328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2587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Implication: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78892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Standard regression fails. Zero-inflated model separates overnight=0 from daytime scaling.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7413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374136"/>
            <a:ext cx="182880" cy="7498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3447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8ADD"/>
                </a:solidFill>
              </a:rPr>
              <a:t>69–104 secs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0352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CCT intraday spread vs ~315s mean </a:t>
            </a:r>
            <a:br>
              <a:rPr lang="en-US" sz="900" dirty="0">
                <a:solidFill>
                  <a:srgbClr val="64748B"/>
                </a:solidFill>
              </a:rPr>
            </a:br>
            <a:r>
              <a:rPr lang="en-US" sz="900" dirty="0">
                <a:solidFill>
                  <a:srgbClr val="64748B"/>
                </a:solidFill>
              </a:rPr>
              <a:t>(22–33% relative spread)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465576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3756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Implication: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363016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Ratio calibration to daily anchor sufficient,  no need for ML to predict CCT.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1538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4215384"/>
            <a:ext cx="182880" cy="74980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" y="4288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3556"/>
                </a:solidFill>
              </a:rPr>
              <a:t>OLS only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0352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for intramonth trend , applied only </a:t>
            </a:r>
            <a:br>
              <a:rPr lang="en-US" sz="900" dirty="0">
                <a:solidFill>
                  <a:srgbClr val="64748B"/>
                </a:solidFill>
              </a:rPr>
            </a:br>
            <a:r>
              <a:rPr lang="en-US" sz="900" dirty="0">
                <a:solidFill>
                  <a:srgbClr val="64748B"/>
                </a:solidFill>
              </a:rPr>
              <a:t>when R²&gt;0.40 and p&lt;0.10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4306824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37560" y="4270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Implication: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37560" y="4471416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Significance gate prevents fitting noise. Without gate, tiny DOW samples yield spurious slopes.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Forecast Pipeline : Methodology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8961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Corrupt Day Removal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3931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40"/>
                </a:solidFill>
              </a:rPr>
              <a:t>Remove interval days missing any peak-hour slot (9am–5pm) OR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where interval CV sum &lt; 90% of daily total.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Result: 84–86 clean training days per portfolio out of 91 calendar days.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23134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CV Shape — Trimmed Mean (10%)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15768"/>
            <a:ext cx="3931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7706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40"/>
                </a:solidFill>
              </a:rPr>
              <a:t>For each (DOW, 30-min slot), compute the trimmed mean of cv_frac = slot_CV / daily_CV across all clean training days.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Trim removes top and bottom 10% of days.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Normalize so each DOW's shape sums to 1.0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Slot forecast = daily_anchor × shape_weight.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730752"/>
            <a:ext cx="347472" cy="34747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37307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Newsvendor Uplift (α=2, β=1 → CR=2/3)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3931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18795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40"/>
                </a:solidFill>
              </a:rPr>
              <a:t>Leave-one-out DOW residuals from same-DOW mean. Uplift = q₆₇ / mean_CV. Results: A=3.0%  B=5.8%  C=4.4%  D=6.0%.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Applied to business hours (8am–8pm) only; half-uplift on shoulder hours (6–8am, 8–10pm).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80467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896112"/>
            <a:ext cx="347472" cy="34747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66944" y="8961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7517"/>
                </a:solidFill>
              </a:rPr>
              <a:t>OLS Intramonth Trend (Significance-Gated)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298448"/>
            <a:ext cx="3931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3533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40"/>
                </a:solidFill>
              </a:rPr>
              <a:t>Fit OLS of daily CV vs occurrence-within-month per DOW.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Only apply if R²&gt;0.40 AND p&lt;0.10 AND |slope/mean|&gt;1.5%.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Without this gate, tiny DOW samples (≤5 rows) would generate spurious trends.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2199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313432"/>
            <a:ext cx="347472" cy="347472"/>
          </a:xfrm>
          <a:prstGeom prst="ellipse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66944" y="23134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3556"/>
                </a:solidFill>
              </a:rPr>
              <a:t>Seasonal Ratio (Spring → August)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715768"/>
            <a:ext cx="3931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7706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40"/>
                </a:solidFill>
              </a:rPr>
              <a:t>Compute Aug/Spring DOW-level ratio using 2024 data blended with 2025.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Applies to shape profiles to account for temporal shift.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Range: 0.900–1.109 across portfolios. Scale already handled by daily anchor.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63931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3730752"/>
            <a:ext cx="347472" cy="347472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66944" y="37307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CCT &amp; ABD Calibration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133088"/>
            <a:ext cx="3931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418795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40"/>
                </a:solidFill>
              </a:rPr>
              <a:t>CCT: (DOW, slot) ratio profile × daily CCT anchor. Clips 60–1,200s. </a:t>
            </a:r>
            <a:br>
              <a:rPr lang="en-US" sz="900" dirty="0">
                <a:solidFill>
                  <a:srgbClr val="1A2340"/>
                </a:solidFill>
              </a:rPr>
            </a:br>
            <a:r>
              <a:rPr lang="en-US" sz="900" dirty="0">
                <a:solidFill>
                  <a:srgbClr val="1A2340"/>
                </a:solidFill>
              </a:rPr>
              <a:t>ABD: Zero-inflated : overnight slots (before 7am, after 10pm) forced to 0; daytime proportional to daily ABD anchor.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Newsvendor Uplift &amp; Model Validation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1"/>
            <a:ext cx="5120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86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Newsvendor Critical Ratio Formula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Cost of under-forecast (α=2): </a:t>
            </a:r>
            <a:r>
              <a:rPr lang="en-US" sz="1000" dirty="0">
                <a:solidFill>
                  <a:srgbClr val="1A2340"/>
                </a:solidFill>
              </a:rPr>
              <a:t>Under-staffing causes SL failure, customer abandonment, rep stress
</a:t>
            </a:r>
            <a:r>
              <a:rPr lang="en-US" sz="1000" b="1" dirty="0">
                <a:solidFill>
                  <a:srgbClr val="0D9488"/>
                </a:solidFill>
              </a:rPr>
              <a:t>Cost of over-forecast (β=1): </a:t>
            </a:r>
            <a:r>
              <a:rPr lang="en-US" sz="1000" dirty="0">
                <a:solidFill>
                  <a:srgbClr val="1A2340"/>
                </a:solidFill>
              </a:rPr>
              <a:t>Excess idle capacity — less costly
</a:t>
            </a:r>
            <a:r>
              <a:rPr lang="en-US" sz="1000" b="1" dirty="0">
                <a:solidFill>
                  <a:srgbClr val="1E2761"/>
                </a:solidFill>
              </a:rPr>
              <a:t>Critical Ratio = α/(α+β) = 2/3 → find 67th percentile of residuals
</a:t>
            </a:r>
            <a:r>
              <a:rPr lang="en-US" sz="900" dirty="0">
                <a:solidFill>
                  <a:srgbClr val="64748B"/>
                </a:solidFill>
              </a:rPr>
              <a:t>Residuals computed via leave-one-out cross-validation by DOW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  using all available training months (2024 + 2025).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832104"/>
            <a:ext cx="3291840" cy="156362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15000" y="886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Computed Uplifts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5000" y="10104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</a:rPr>
              <a:t>A  </a:t>
            </a:r>
            <a:r>
              <a:rPr lang="en-US" sz="900" dirty="0">
                <a:solidFill>
                  <a:srgbClr val="64748B"/>
                </a:solidFill>
              </a:rPr>
              <a:t>n=170  q₆₇=123  mean=4,118  </a:t>
            </a:r>
            <a:r>
              <a:rPr lang="en-US" sz="1200" b="1" dirty="0">
                <a:solidFill>
                  <a:srgbClr val="0D9488"/>
                </a:solidFill>
              </a:rPr>
              <a:t>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1414271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1314551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B  </a:t>
            </a:r>
            <a:r>
              <a:rPr lang="en-US" sz="900" dirty="0">
                <a:solidFill>
                  <a:srgbClr val="64748B"/>
                </a:solidFill>
              </a:rPr>
              <a:t>n=174  q₆₇=522  mean=8,984  </a:t>
            </a:r>
            <a:r>
              <a:rPr lang="en-US" sz="1200" b="1" dirty="0">
                <a:solidFill>
                  <a:srgbClr val="0D9488"/>
                </a:solidFill>
              </a:rPr>
              <a:t>5.8%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1706919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16041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</a:rPr>
              <a:t>C  </a:t>
            </a:r>
            <a:r>
              <a:rPr lang="en-US" sz="900" dirty="0">
                <a:solidFill>
                  <a:srgbClr val="64748B"/>
                </a:solidFill>
              </a:rPr>
              <a:t>n=175  q₆₇=881  mean=19,802  </a:t>
            </a:r>
            <a:r>
              <a:rPr lang="en-US" sz="1200" b="1" dirty="0">
                <a:solidFill>
                  <a:srgbClr val="0D9488"/>
                </a:solidFill>
              </a:rPr>
              <a:t>4.4%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1898199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556"/>
                </a:solidFill>
              </a:rPr>
              <a:t>D  </a:t>
            </a:r>
            <a:r>
              <a:rPr lang="en-US" sz="900" dirty="0">
                <a:solidFill>
                  <a:srgbClr val="64748B"/>
                </a:solidFill>
              </a:rPr>
              <a:t>n=182  q₆₇=621  mean=10,420  </a:t>
            </a:r>
            <a:r>
              <a:rPr lang="en-US" sz="1200" b="1" dirty="0">
                <a:solidFill>
                  <a:srgbClr val="0D9488"/>
                </a:solidFill>
              </a:rPr>
              <a:t>6.0%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3694176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" y="257175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671457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Forecast vs Anchor (Expected Over-Forecast = Uplift 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05531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105531"/>
            <a:ext cx="2011680" cy="320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105531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47129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Daily EV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67245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2.9%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5760" y="406565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</a:rPr>
              <a:t>Over-forecast matches uplift 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3105531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68880" y="3105531"/>
            <a:ext cx="2011680" cy="320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0" y="3105531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347129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Daily EV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0320" y="367245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5.3%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560320" y="406565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</a:rPr>
              <a:t>Over-forecast matches uplift 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3105531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105531"/>
            <a:ext cx="2011680" cy="3200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105531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47129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Daily EV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67245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4.1%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54880" y="406565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</a:rPr>
              <a:t>Over-forecast matches uplift 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58000" y="3105531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58000" y="3130760"/>
            <a:ext cx="2011680" cy="320040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494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350997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Daily EV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366102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5.4%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49440" y="4065079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</a:rPr>
              <a:t>Over-forecast matches uplift</a:t>
            </a:r>
            <a:endParaRPr lang="en-US" sz="80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3373D2A1-D3B3-0D50-0DE4-42A3D4C05630}"/>
              </a:ext>
            </a:extLst>
          </p:cNvPr>
          <p:cNvSpPr/>
          <p:nvPr/>
        </p:nvSpPr>
        <p:spPr>
          <a:xfrm>
            <a:off x="5715000" y="2015626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August 2025 Forecast : Final Results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933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93392" cy="3840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Portfolio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Aug Total Calls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40"/>
                </a:solidFill>
              </a:rPr>
              <a:t>113,797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62763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Peak 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</a:rPr>
              <a:t>Aug 4 (Mon)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Peak Volume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5,223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28712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calls/day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50592" y="822960"/>
            <a:ext cx="19933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50592" y="822960"/>
            <a:ext cx="1993392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42032" y="8229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Portfolio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12618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Aug Total Calls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42032" y="1463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40"/>
                </a:solidFill>
              </a:rPr>
              <a:t>275,474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633472" y="1920240"/>
            <a:ext cx="162763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42032" y="199339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Peak Day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42032" y="217627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Aug 4 (Mon)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42032" y="24231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Peak Volume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42032" y="2606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13,020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42032" y="28712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calls/day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26864" y="822960"/>
            <a:ext cx="19933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26864" y="822960"/>
            <a:ext cx="1993392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8229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Portfolio 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18304" y="12618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Aug Total Calls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18304" y="1463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40"/>
                </a:solidFill>
              </a:rPr>
              <a:t>590,498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09744" y="1920240"/>
            <a:ext cx="162763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18304" y="199339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Peak Day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18304" y="217627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7517"/>
                </a:solidFill>
              </a:rPr>
              <a:t>Aug 4 (Mon)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18304" y="24231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Peak Volume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18304" y="2606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26,625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18304" y="28712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calls/day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03136" y="822960"/>
            <a:ext cx="19933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03136" y="822960"/>
            <a:ext cx="1993392" cy="38404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94576" y="8229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Portfolio 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94576" y="12618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Aug Total Calls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94576" y="1463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40"/>
                </a:solidFill>
              </a:rPr>
              <a:t>305,872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986016" y="1920240"/>
            <a:ext cx="162763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94576" y="199339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Peak Day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94576" y="217627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3556"/>
                </a:solidFill>
              </a:rPr>
              <a:t>Aug 4 (Mon)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94576" y="24231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Peak Volume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94576" y="2606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40"/>
                </a:solidFill>
              </a:rPr>
              <a:t>13,828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94576" y="28712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calls/day</a:t>
            </a:r>
            <a:endParaRPr lang="en-US" sz="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901714"/>
              </p:ext>
            </p:extLst>
          </p:nvPr>
        </p:nvGraphicFramePr>
        <p:xfrm>
          <a:off x="274320" y="3639312"/>
          <a:ext cx="8478911" cy="123444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3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78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3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83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246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489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877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Interval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Calls_A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ABD_A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CCT_A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Calls_B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ABD_B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CCT_B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Calls_C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ABD_C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CCT_C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Calls_D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ABD_D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CCT_D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August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0:00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6.46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371.27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40.31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345.25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82.96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372.98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44.92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339.65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August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0:30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4.87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357.06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30.29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318.06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56.22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335.09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31.59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306.32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August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1:00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3.49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330.26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13.27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465.68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43.22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343.3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22.71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340"/>
                          </a:solidFill>
                        </a:rPr>
                        <a:t>382.4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DOW + Intraday shape drive ~97–99% of variance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Training the model on (DOW, slot) fractions is sufficient. More complex models overfit the residual noise.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618488"/>
            <a:ext cx="79552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Volume is declining 10–13% YoY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0208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Aug 2025 daily anchors account for this. Forecasts built from raw 2024 data would be structurally biased upward.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423160"/>
            <a:ext cx="79552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47802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Under-staffing is 2× more costly than over-staffing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8254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newsvendor uplift (3.0–6.0% per portfolio) reflects this asymmetry mathematically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3227832"/>
            <a:ext cx="79552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28269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28269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Service Level &lt; 80% doubles abandon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6301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SL–ABD relationship quantifies the cost of forecast error in customer experience terms.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4032504"/>
            <a:ext cx="79552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08736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087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August 2025: 1.285M total calls forecast across all portfolios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4348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A: 113,797 · B: 275,474 · C: 590,498 · D: 305,872. Peak is Aug 4 (Monday) for all portfolios.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1458</Words>
  <Application>Microsoft Macintosh PowerPoint</Application>
  <PresentationFormat>On-screen Show (16:9)</PresentationFormat>
  <Paragraphs>304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Center Workflow Analysis — EDA &amp; Forecast</dc:title>
  <dc:subject>PptxGenJS Presentation</dc:subject>
  <dc:creator>PptxGenJS</dc:creator>
  <cp:lastModifiedBy>Priyal Maniar</cp:lastModifiedBy>
  <cp:revision>5</cp:revision>
  <dcterms:created xsi:type="dcterms:W3CDTF">2026-03-29T16:52:26Z</dcterms:created>
  <dcterms:modified xsi:type="dcterms:W3CDTF">2026-03-30T03:48:22Z</dcterms:modified>
</cp:coreProperties>
</file>